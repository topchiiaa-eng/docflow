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Здравствуйте. Проект — веб-приложение для операционных менеджеров групп компаний, которое собирает входящие ЭДО-документы нескольких юрлиц в одну ленту. Идея из моей практики: три юрлица в Диадоке.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Боль измерена на себе: три юрлица, каждое утро — обход трёх ящиков. Документы «требуется подпись» терялись между ящиками.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Анализ сделал субагент с веб-поиском. Главный вывод: у провайдеров мультиорганизационность — это переключатель, единой ленты нет. Ниша подтверждена.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Живой скриншот production. Четыре экрана с роутингом, вход по паролю или через Google.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1463040"/>
            <a:ext cx="7315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Док</a:t>
            </a:r>
            <a:pPr indent="0" marL="0">
              <a:buNone/>
            </a:pPr>
            <a:r>
              <a:rPr lang="en-US" sz="6000" b="1" dirty="0">
                <a:solidFill>
                  <a:srgbClr val="34D3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Поток</a:t>
            </a:r>
            <a:endParaRPr lang="en-US" sz="60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2560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Единая входящая ЭДО для группы компаний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3931920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Проектная работа курса «Разработка с AI-агентами»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Анастасия Топчий · октябрь 2026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585216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4D3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topchiiaa-eng.github.io/docflow · github.com/topchiiaa-eng/docflow</a:t>
            </a:r>
            <a:endParaRPr lang="en-US" sz="1300" dirty="0"/>
          </a:p>
        </p:txBody>
      </p:sp>
      <p:pic>
        <p:nvPicPr>
          <p:cNvPr id="6" name="Image 0" descr="docs/screenshots/live-mobil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418320" y="822960"/>
            <a:ext cx="2194560" cy="475488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Проблема: один менеджер — N ящиков ЭДО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63040"/>
            <a:ext cx="3657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0" b="1" dirty="0">
                <a:solidFill>
                  <a:srgbClr val="0E7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20–30</a:t>
            </a:r>
            <a:endParaRPr lang="en-US" sz="7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743200"/>
            <a:ext cx="3840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минут в день уходит на обход ящиков трёх юрлиц в Контур.Диадоке (замер на собственной практике)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3931920"/>
            <a:ext cx="3657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600" b="1" dirty="0">
                <a:solidFill>
                  <a:srgbClr val="EA58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дни</a:t>
            </a:r>
            <a:endParaRPr lang="en-US" sz="56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4846320"/>
            <a:ext cx="3840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задержка, с которой замечают документ «требуется подпись» — и срыв сроков документооборота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937760" y="1463040"/>
            <a:ext cx="3200400" cy="2011680"/>
          </a:xfrm>
          <a:prstGeom prst="roundRect">
            <a:avLst>
              <a:gd name="adj" fmla="val 5455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5166360" y="1691640"/>
            <a:ext cx="384048" cy="384048"/>
          </a:xfrm>
          <a:prstGeom prst="ellipse">
            <a:avLst/>
          </a:prstGeom>
          <a:solidFill>
            <a:srgbClr val="0E7A5F"/>
          </a:solidFill>
          <a:ln w="12700">
            <a:solidFill>
              <a:srgbClr val="0E7A5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5669280" y="164592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Кто страдает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5166360" y="2194560"/>
            <a:ext cx="2743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Операционные менеджеры и бухгалтеры малых групп компаний (2–10 юрлиц): один человек ведёт документооборот нескольких ООО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8412480" y="1463040"/>
            <a:ext cx="3200400" cy="2011680"/>
          </a:xfrm>
          <a:prstGeom prst="roundRect">
            <a:avLst>
              <a:gd name="adj" fmla="val 5455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8641080" y="1691640"/>
            <a:ext cx="384048" cy="384048"/>
          </a:xfrm>
          <a:prstGeom prst="ellipse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9144000" y="164592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Почему так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8641080" y="2194560"/>
            <a:ext cx="2743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Интерфейсы ЭДО рассчитаны на «одна организация — один ящик»; несколько юрлиц = переключение контекста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4937760" y="3749040"/>
            <a:ext cx="3200400" cy="2011680"/>
          </a:xfrm>
          <a:prstGeom prst="roundRect">
            <a:avLst>
              <a:gd name="adj" fmla="val 5455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5166360" y="3977640"/>
            <a:ext cx="384048" cy="384048"/>
          </a:xfrm>
          <a:prstGeom prst="ellipse">
            <a:avLst/>
          </a:prstGeom>
          <a:solidFill>
            <a:srgbClr val="0E7A5F"/>
          </a:solidFill>
          <a:ln w="12700">
            <a:solidFill>
              <a:srgbClr val="0E7A5F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5669280" y="393192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Что было до проекта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5166360" y="4480560"/>
            <a:ext cx="2743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Telegram-бот (ДЗ-2): уведомления есть, рабочего места нет — ни фильтров, ни истории, ни очереди на подпись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8412480" y="3749040"/>
            <a:ext cx="3200400" cy="2011680"/>
          </a:xfrm>
          <a:prstGeom prst="roundRect">
            <a:avLst>
              <a:gd name="adj" fmla="val 5455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8641080" y="3977640"/>
            <a:ext cx="384048" cy="384048"/>
          </a:xfrm>
          <a:prstGeom prst="ellipse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9144000" y="393192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Цель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8641080" y="4480560"/>
            <a:ext cx="2743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Один экран на все организации: лента, очередь «на подпись» с явным подтверждением, журнал, роли</a:t>
            </a:r>
            <a:endParaRPr lang="en-US" sz="1250" dirty="0"/>
          </a:p>
        </p:txBody>
      </p:sp>
      <p:sp>
        <p:nvSpPr>
          <p:cNvPr id="23" name="Text 21"/>
          <p:cNvSpPr txBox="1"/>
          <p:nvPr/>
        </p:nvSpPr>
        <p:spPr>
          <a:xfrm>
            <a:off x="548640" y="6400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ДокПоток · защита проекта · 2/12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Конкуренты: «несколько юрлиц» = переключатель, а не лента</a:t>
            </a:r>
            <a:endParaRPr lang="en-US" sz="32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91672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4754880"/>
                <a:gridCol w="3959352"/>
              </a:tblGrid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Продукт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Несколько организаций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Роли и подписание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Контур.Диадок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Одна учётка → список организаций → переключение контекста. Единой ленты нет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Админ / редактор / читатель; маршруты согласования и «доп. подпись» — платные модули (10–230 тыс. ₽/год)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СБИС / Saby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Несколько компаний в аккаунте, тариф — на каждую; при отправке выбирается организация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Простое согласование в тарифе, маршруты — отдельная лицензия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1С-ЭДО (многофирменный учёт)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«Текущие дела ЭДО» — общий список по базе 1С; нужна 1С у каждого пользователя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Маршруты подписания несколькими сертификатами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DocuSign / PandaDoc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Switch Account / Workspaces (Enterprise) — изоляция, без общей входящей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Роли по аккаунту / workspace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Dext / Hubdoc (бухфирмы)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Ближайший паттерн: панель фирмы, очередь документов по каждому клиенту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Без юридически значимой подписи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48640" y="5257800"/>
            <a:ext cx="110916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Ниша: единая кросс-организационная лента + очередь «на подпись» по ролям + журнал. Главный риск — зависимость от API одного провайдера → абстракция EdoProvider в архитектуре. Анализ выполнен AI-агентом с веб-поиском (docs/competitors.md).</a:t>
            </a:r>
            <a:endParaRPr lang="en-US" sz="13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6400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ДокПоток · защита проекта · 3/12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Решение: четыре экрана + вход</a:t>
            </a:r>
            <a:endParaRPr lang="en-US" sz="3200" dirty="0"/>
          </a:p>
        </p:txBody>
      </p:sp>
      <p:pic>
        <p:nvPicPr>
          <p:cNvPr id="3" name="Image 0" descr="docs/screenshots/live-deskto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25880"/>
            <a:ext cx="6766560" cy="3803904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7680960" y="1371600"/>
            <a:ext cx="457200" cy="457200"/>
          </a:xfrm>
          <a:prstGeom prst="ellipse">
            <a:avLst/>
          </a:prstGeom>
          <a:solidFill>
            <a:srgbClr val="0E7A5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7680960" y="13716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8275320" y="1325880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Входящие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8275320" y="1691640"/>
            <a:ext cx="3383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Лента всех организаций, KPI, фильтры, поиск, карточка документа, добавление с PDF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7680960" y="2441448"/>
            <a:ext cx="457200" cy="457200"/>
          </a:xfrm>
          <a:prstGeom prst="ellipse">
            <a:avLst/>
          </a:prstGeom>
          <a:solidFill>
            <a:srgbClr val="EA580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7680960" y="244144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7"/>
          <p:cNvSpPr txBox="1"/>
          <p:nvPr/>
        </p:nvSpPr>
        <p:spPr>
          <a:xfrm>
            <a:off x="8275320" y="2395728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 подпись</a:t>
            </a:r>
            <a:endParaRPr lang="en-US" sz="1600" dirty="0"/>
          </a:p>
        </p:txBody>
      </p:sp>
      <p:sp>
        <p:nvSpPr>
          <p:cNvPr id="11" name="Text 8"/>
          <p:cNvSpPr txBox="1"/>
          <p:nvPr/>
        </p:nvSpPr>
        <p:spPr>
          <a:xfrm>
            <a:off x="8275320" y="2761488"/>
            <a:ext cx="3383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Очередь «требуется подпись» → диалог подтверждения → подписание по роли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7680960" y="3511296"/>
            <a:ext cx="457200" cy="457200"/>
          </a:xfrm>
          <a:prstGeom prst="ellipse">
            <a:avLst/>
          </a:prstGeom>
          <a:solidFill>
            <a:srgbClr val="0E7A5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7680960" y="351129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4" name="Text 11"/>
          <p:cNvSpPr txBox="1"/>
          <p:nvPr/>
        </p:nvSpPr>
        <p:spPr>
          <a:xfrm>
            <a:off x="8275320" y="3465576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Журнал</a:t>
            </a:r>
            <a:endParaRPr lang="en-US" sz="1600" dirty="0"/>
          </a:p>
        </p:txBody>
      </p:sp>
      <p:sp>
        <p:nvSpPr>
          <p:cNvPr id="15" name="Text 12"/>
          <p:cNvSpPr txBox="1"/>
          <p:nvPr/>
        </p:nvSpPr>
        <p:spPr>
          <a:xfrm>
            <a:off x="8275320" y="3831336"/>
            <a:ext cx="3383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Append-only журнал: успехи и отказы с причиной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7680960" y="4581144"/>
            <a:ext cx="457200" cy="457200"/>
          </a:xfrm>
          <a:prstGeom prst="ellipse">
            <a:avLst/>
          </a:prstGeom>
          <a:solidFill>
            <a:srgbClr val="0E7A5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7680960" y="458114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8" name="Text 15"/>
          <p:cNvSpPr txBox="1"/>
          <p:nvPr/>
        </p:nvSpPr>
        <p:spPr>
          <a:xfrm>
            <a:off x="8275320" y="4535424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Организации</a:t>
            </a:r>
            <a:endParaRPr lang="en-US" sz="1600" dirty="0"/>
          </a:p>
        </p:txBody>
      </p:sp>
      <p:sp>
        <p:nvSpPr>
          <p:cNvPr id="19" name="Text 16"/>
          <p:cNvSpPr txBox="1"/>
          <p:nvPr/>
        </p:nvSpPr>
        <p:spPr>
          <a:xfrm>
            <a:off x="8275320" y="4901184"/>
            <a:ext cx="3383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Создание, переименование, удаление; участники по email, роли</a:t>
            </a:r>
            <a:endParaRPr lang="en-US" sz="1200" dirty="0"/>
          </a:p>
        </p:txBody>
      </p:sp>
      <p:sp>
        <p:nvSpPr>
          <p:cNvPr id="20" name="Text 17"/>
          <p:cNvSpPr txBox="1"/>
          <p:nvPr/>
        </p:nvSpPr>
        <p:spPr>
          <a:xfrm>
            <a:off x="548640" y="5715000"/>
            <a:ext cx="6766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Адаптивно: ≥1024px — master-detail, на мобильных карточка открывается поверх списка. Каждый экран: loading / error / empty / success.</a:t>
            </a:r>
            <a:endParaRPr lang="en-US" sz="1150" dirty="0"/>
          </a:p>
        </p:txBody>
      </p:sp>
      <p:sp>
        <p:nvSpPr>
          <p:cNvPr id="21" name="Text 18"/>
          <p:cNvSpPr txBox="1"/>
          <p:nvPr/>
        </p:nvSpPr>
        <p:spPr>
          <a:xfrm>
            <a:off x="548640" y="6400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ДокПоток · защита проекта · 4/12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Организации и журнал подписаний</a:t>
            </a:r>
            <a:endParaRPr lang="en-US" sz="3200" dirty="0"/>
          </a:p>
        </p:txBody>
      </p:sp>
      <p:pic>
        <p:nvPicPr>
          <p:cNvPr id="3" name="Image 0" descr="docs/screenshots/live-organization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25880"/>
            <a:ext cx="5486400" cy="3086100"/>
          </a:xfrm>
          <a:prstGeom prst="rect">
            <a:avLst/>
          </a:prstGeom>
        </p:spPr>
      </p:pic>
      <p:pic>
        <p:nvPicPr>
          <p:cNvPr id="4" name="Image 1" descr="docs/screenshots/live-journa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72200" y="1325880"/>
            <a:ext cx="5486400" cy="3086100"/>
          </a:xfrm>
          <a:prstGeom prst="rect">
            <a:avLst/>
          </a:prstGeom>
        </p:spPr>
      </p:pic>
      <p:sp>
        <p:nvSpPr>
          <p:cNvPr id="5" name="Text 1"/>
          <p:cNvSpPr txBox="1"/>
          <p:nvPr/>
        </p:nvSpPr>
        <p:spPr>
          <a:xfrm>
            <a:off x="548640" y="4572000"/>
            <a:ext cx="5486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CRUD организаций; участники добавляются по email через RPC (auth.users клиенту недоступна); роль «оператор» без права подписи — для живой проверки политик</a:t>
            </a:r>
            <a:endParaRPr lang="en-US" sz="1200" dirty="0"/>
          </a:p>
        </p:txBody>
      </p:sp>
      <p:sp>
        <p:nvSpPr>
          <p:cNvPr id="6" name="Text 2"/>
          <p:cNvSpPr txBox="1"/>
          <p:nvPr/>
        </p:nvSpPr>
        <p:spPr>
          <a:xfrm>
            <a:off x="6172200" y="4572000"/>
            <a:ext cx="5486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Журнал пишется только сервером (RPC), клиент не может его менять; отказы фиксируются с причиной — «роль без права подписи», «документ не требует подписи»</a:t>
            </a:r>
            <a:endParaRPr lang="en-US" sz="1200" dirty="0"/>
          </a:p>
        </p:txBody>
      </p:sp>
      <p:sp>
        <p:nvSpPr>
          <p:cNvPr id="7" name="Text 3"/>
          <p:cNvSpPr txBox="1"/>
          <p:nvPr/>
        </p:nvSpPr>
        <p:spPr>
          <a:xfrm>
            <a:off x="548640" y="6400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ДокПоток · защита проекта · 5/12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Архитектура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371600"/>
            <a:ext cx="3291840" cy="2926080"/>
          </a:xfrm>
          <a:prstGeom prst="roundRect">
            <a:avLst>
              <a:gd name="adj" fmla="val 3125"/>
            </a:avLst>
          </a:prstGeom>
          <a:solidFill>
            <a:srgbClr val="D1FAE5"/>
          </a:solidFill>
          <a:ln w="12700">
            <a:solidFill>
              <a:srgbClr val="D1FAE5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31520" y="1481328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Frontend (GitHub Pages)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1874520"/>
            <a:ext cx="2926080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27000" indent="-127000">
              <a:buSzPct val="100000"/>
              <a:buChar char="•"/>
            </a:pPr>
            <a:r>
              <a:rPr lang="en-US" sz="11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 19 + TypeScript strict</a:t>
            </a:r>
            <a:endParaRPr lang="en-US" sz="1150" dirty="0"/>
          </a:p>
          <a:p>
            <a:pPr marL="127000" indent="-127000">
              <a:buSzPct val="100000"/>
              <a:buChar char="•"/>
            </a:pPr>
            <a:r>
              <a:rPr lang="en-US" sz="11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 Router (HashRouter)</a:t>
            </a:r>
            <a:endParaRPr lang="en-US" sz="1150" dirty="0"/>
          </a:p>
          <a:p>
            <a:pPr marL="127000" indent="-127000">
              <a:buSzPct val="100000"/>
              <a:buChar char="•"/>
            </a:pPr>
            <a:r>
              <a:rPr lang="en-US" sz="11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Tailwind v4</a:t>
            </a:r>
            <a:endParaRPr lang="en-US" sz="1150" dirty="0"/>
          </a:p>
          <a:p>
            <a:pPr marL="127000" indent="-127000">
              <a:buSzPct val="100000"/>
              <a:buChar char="•"/>
            </a:pPr>
            <a:r>
              <a:rPr lang="en-US" sz="11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EdoProvider — граница с бэкендом</a:t>
            </a:r>
            <a:endParaRPr lang="en-US" sz="1150" dirty="0"/>
          </a:p>
          <a:p>
            <a:pPr marL="127000" indent="-127000">
              <a:buSzPct val="100000"/>
              <a:buChar char="•"/>
            </a:pPr>
            <a:r>
              <a:rPr lang="en-US" sz="11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мок-провайдер для тестов и демо</a:t>
            </a:r>
            <a:endParaRPr lang="en-US" sz="1150" dirty="0"/>
          </a:p>
        </p:txBody>
      </p:sp>
      <p:sp>
        <p:nvSpPr>
          <p:cNvPr id="6" name="Shape 4"/>
          <p:cNvSpPr/>
          <p:nvPr/>
        </p:nvSpPr>
        <p:spPr>
          <a:xfrm>
            <a:off x="4480560" y="1371600"/>
            <a:ext cx="3291840" cy="2926080"/>
          </a:xfrm>
          <a:prstGeom prst="roundRect">
            <a:avLst>
              <a:gd name="adj" fmla="val 3125"/>
            </a:avLst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663440" y="1481328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Supabase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4663440" y="1874520"/>
            <a:ext cx="2926080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27000" indent="-127000"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Auth: email + Google OAuth (PKCE)</a:t>
            </a:r>
            <a:endParaRPr lang="en-US" sz="1150" dirty="0"/>
          </a:p>
          <a:p>
            <a:pPr marL="127000" indent="-127000"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PostgREST: CRUD поверх 5 таблиц</a:t>
            </a:r>
            <a:endParaRPr lang="en-US" sz="1150" dirty="0"/>
          </a:p>
          <a:p>
            <a:pPr marL="127000" indent="-127000"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RPC: sign_document, add_member…</a:t>
            </a:r>
            <a:endParaRPr lang="en-US" sz="1150" dirty="0"/>
          </a:p>
          <a:p>
            <a:pPr marL="127000" indent="-127000"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Storage: приватный bucket PDF</a:t>
            </a:r>
            <a:endParaRPr lang="en-US" sz="1150" dirty="0"/>
          </a:p>
          <a:p>
            <a:pPr marL="127000" indent="-127000"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RLS + права уровня колонок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8412480" y="1371600"/>
            <a:ext cx="3291840" cy="2926080"/>
          </a:xfrm>
          <a:prstGeom prst="roundRect">
            <a:avLst>
              <a:gd name="adj" fmla="val 3125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595360" y="1481328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Эксплуатация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8595360" y="1874520"/>
            <a:ext cx="2926080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27000" indent="-127000">
              <a:buSzPct val="100000"/>
              <a:buChar char="•"/>
            </a:pPr>
            <a:r>
              <a:rPr lang="en-US" sz="11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Actions: audit → lint → prettier → tsc → 43 теста → build → deploy</a:t>
            </a:r>
            <a:endParaRPr lang="en-US" sz="1150" dirty="0"/>
          </a:p>
          <a:p>
            <a:pPr marL="127000" indent="-127000">
              <a:buSzPct val="100000"/>
              <a:buChar char="•"/>
            </a:pPr>
            <a:r>
              <a:rPr lang="en-US" sz="11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Uptime-workflow + health RPC</a:t>
            </a:r>
            <a:endParaRPr lang="en-US" sz="1150" dirty="0"/>
          </a:p>
          <a:p>
            <a:pPr marL="127000" indent="-127000">
              <a:buSzPct val="100000"/>
              <a:buChar char="•"/>
            </a:pPr>
            <a:r>
              <a:rPr lang="en-US" sz="11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JSON-логи → client_logs</a:t>
            </a:r>
            <a:endParaRPr lang="en-US" sz="1150" dirty="0"/>
          </a:p>
          <a:p>
            <a:pPr marL="127000" indent="-127000">
              <a:buSzPct val="100000"/>
              <a:buChar char="•"/>
            </a:pPr>
            <a:r>
              <a:rPr lang="en-US" sz="11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Яндекс.Метрика: 14 событий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3840480" y="2606040"/>
            <a:ext cx="640080" cy="457200"/>
          </a:xfrm>
          <a:prstGeom prst="rightArrow">
            <a:avLst/>
          </a:prstGeom>
          <a:solidFill>
            <a:srgbClr val="0E7A5F"/>
          </a:solidFill>
          <a:ln w="12700">
            <a:solidFill>
              <a:srgbClr val="0E7A5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772400" y="2606040"/>
            <a:ext cx="640080" cy="457200"/>
          </a:xfrm>
          <a:prstGeom prst="rightArrow">
            <a:avLst/>
          </a:prstGeom>
          <a:solidFill>
            <a:srgbClr val="0E7A5F"/>
          </a:solidFill>
          <a:ln w="12700">
            <a:solidFill>
              <a:srgbClr val="0E7A5F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48640" y="457200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Ключевое решение: интерфейс EdoProvider. Фронтенд не знает, откуда данные — бэкенд подключался без изменения компонентов; тот же интерфейс закрывает риск зависимости от одного ЭДО-провайдера.</a:t>
            </a:r>
            <a:endParaRPr lang="en-US" sz="1350" dirty="0"/>
          </a:p>
        </p:txBody>
      </p:sp>
      <p:sp>
        <p:nvSpPr>
          <p:cNvPr id="15" name="Text 13"/>
          <p:cNvSpPr txBox="1"/>
          <p:nvPr/>
        </p:nvSpPr>
        <p:spPr>
          <a:xfrm>
            <a:off x="548640" y="5394960"/>
            <a:ext cx="110916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Нет прав администратора на машине → нет Docker/VPS → Supabase + GitHub Pages: ограничение стало фильтром решений.</a:t>
            </a:r>
            <a:endParaRPr lang="en-US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548640" y="6400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ДокПоток · защита проекта · 6/12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Данные и безопасность</a:t>
            </a:r>
            <a:endParaRPr lang="en-US" sz="32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5120640" cy="914400"/>
        </p:xfrm>
        <a:graphic>
          <a:graphicData uri="http://schemas.openxmlformats.org/drawingml/2006/table">
            <a:tbl>
              <a:tblPr/>
              <a:tblGrid>
                <a:gridCol w="1554480"/>
                <a:gridCol w="356616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Таблица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7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Назначение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7A5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organizations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юрлица; created_by — владелец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org_members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роли: signer / operator / accountant (M:N с auth.users)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documents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входящие; file_path → Storage; check-constraints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sign_attempts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append-only журнал подписаний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client_logs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warn/error с фронтенда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Shape 1"/>
          <p:cNvSpPr/>
          <p:nvPr/>
        </p:nvSpPr>
        <p:spPr>
          <a:xfrm>
            <a:off x="6035040" y="1325880"/>
            <a:ext cx="2743200" cy="210312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5" name="Shape 2"/>
          <p:cNvSpPr/>
          <p:nvPr/>
        </p:nvSpPr>
        <p:spPr>
          <a:xfrm>
            <a:off x="6263640" y="1554480"/>
            <a:ext cx="384048" cy="384048"/>
          </a:xfrm>
          <a:prstGeom prst="ellipse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6766560" y="150876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Подписание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6263640" y="2057400"/>
            <a:ext cx="22860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Только через RPC с проверкой роли и статуса; у клиента отозваны права менять status — путь «мимо» физически невозможен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8961120" y="1325880"/>
            <a:ext cx="2743200" cy="210312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9189720" y="1554480"/>
            <a:ext cx="384048" cy="384048"/>
          </a:xfrm>
          <a:prstGeom prst="ellipse">
            <a:avLst/>
          </a:prstGeom>
          <a:solidFill>
            <a:srgbClr val="0E7A5F"/>
          </a:solidFill>
          <a:ln w="12700">
            <a:solidFill>
              <a:srgbClr val="0E7A5F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9692640" y="150876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RLS везде</a:t>
            </a:r>
            <a:endParaRPr lang="en-US" sz="1500" dirty="0"/>
          </a:p>
        </p:txBody>
      </p:sp>
      <p:sp>
        <p:nvSpPr>
          <p:cNvPr id="11" name="Text 8"/>
          <p:cNvSpPr txBox="1"/>
          <p:nvPr/>
        </p:nvSpPr>
        <p:spPr>
          <a:xfrm>
            <a:off x="9189720" y="2057400"/>
            <a:ext cx="22860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Видимость только своих организаций; анонимам — 401; is_member() как security definer против рекурсии</a:t>
            </a:r>
            <a:endParaRPr lang="en-US" sz="1250" dirty="0"/>
          </a:p>
        </p:txBody>
      </p:sp>
      <p:sp>
        <p:nvSpPr>
          <p:cNvPr id="12" name="Shape 9"/>
          <p:cNvSpPr/>
          <p:nvPr/>
        </p:nvSpPr>
        <p:spPr>
          <a:xfrm>
            <a:off x="6035040" y="3611880"/>
            <a:ext cx="2743200" cy="210312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6263640" y="3840480"/>
            <a:ext cx="384048" cy="384048"/>
          </a:xfrm>
          <a:prstGeom prst="ellipse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6766560" y="379476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Аудит OWASP (AI)</a:t>
            </a:r>
            <a:endParaRPr lang="en-US" sz="1500" dirty="0"/>
          </a:p>
        </p:txBody>
      </p:sp>
      <p:sp>
        <p:nvSpPr>
          <p:cNvPr id="15" name="Text 12"/>
          <p:cNvSpPr txBox="1"/>
          <p:nvPr/>
        </p:nvSpPr>
        <p:spPr>
          <a:xfrm>
            <a:off x="6263640" y="4343400"/>
            <a:ext cx="22860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находок, 11 исправлены: служебная функция была вызываема через RPC, TOCTOU в подписании, утечка сообщений сервера, CSP</a:t>
            </a:r>
            <a:endParaRPr lang="en-US" sz="1250" dirty="0"/>
          </a:p>
        </p:txBody>
      </p:sp>
      <p:sp>
        <p:nvSpPr>
          <p:cNvPr id="16" name="Shape 13"/>
          <p:cNvSpPr/>
          <p:nvPr/>
        </p:nvSpPr>
        <p:spPr>
          <a:xfrm>
            <a:off x="8961120" y="3611880"/>
            <a:ext cx="2743200" cy="210312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17" name="Shape 14"/>
          <p:cNvSpPr/>
          <p:nvPr/>
        </p:nvSpPr>
        <p:spPr>
          <a:xfrm>
            <a:off x="9189720" y="3840480"/>
            <a:ext cx="384048" cy="384048"/>
          </a:xfrm>
          <a:prstGeom prst="ellipse">
            <a:avLst/>
          </a:prstGeom>
          <a:solidFill>
            <a:srgbClr val="0E7A5F"/>
          </a:solidFill>
          <a:ln w="12700">
            <a:solidFill>
              <a:srgbClr val="0E7A5F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9692640" y="379476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Секреты</a:t>
            </a:r>
            <a:endParaRPr lang="en-US" sz="1500" dirty="0"/>
          </a:p>
        </p:txBody>
      </p:sp>
      <p:sp>
        <p:nvSpPr>
          <p:cNvPr id="19" name="Text 16"/>
          <p:cNvSpPr txBox="1"/>
          <p:nvPr/>
        </p:nvSpPr>
        <p:spPr>
          <a:xfrm>
            <a:off x="9189720" y="4343400"/>
            <a:ext cx="22860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Ключи только в .env.local и GitHub Secrets; пароли тестовых учёток ротированы и убраны из репозитория</a:t>
            </a:r>
            <a:endParaRPr lang="en-US" sz="1250" dirty="0"/>
          </a:p>
        </p:txBody>
      </p:sp>
      <p:sp>
        <p:nvSpPr>
          <p:cNvPr id="20" name="Text 17"/>
          <p:cNvSpPr txBox="1"/>
          <p:nvPr/>
        </p:nvSpPr>
        <p:spPr>
          <a:xfrm>
            <a:off x="548640" y="4206240"/>
            <a:ext cx="5120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миграций в supabase/migrations — проверены на живой базе API-тестами и e2e под свежим пользователем.</a:t>
            </a:r>
            <a:endParaRPr lang="en-US" sz="1200" dirty="0"/>
          </a:p>
        </p:txBody>
      </p:sp>
      <p:sp>
        <p:nvSpPr>
          <p:cNvPr id="21" name="Text 18"/>
          <p:cNvSpPr txBox="1"/>
          <p:nvPr/>
        </p:nvSpPr>
        <p:spPr>
          <a:xfrm>
            <a:off x="548640" y="6400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ДокПоток · защита проекта · 7/12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AI-агент на каждом этапе</a:t>
            </a:r>
            <a:endParaRPr lang="en-US" sz="32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91672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5303520"/>
                <a:gridCol w="4050792"/>
              </a:tblGrid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Этап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Как использован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Что дало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Планирование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Идея, анализ конкурентов (субагент + веб-поиск), 3 UI-концепции text-to-UI, 12 user stories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Подтверждённая ниша; концепция выбрана по главному сценарию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Архитектура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Схема БД и RLS по ТЗ; ТЗ проверено независимым агентом-«техлидом»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 критичных пробелов в ТЗ найдены до первой строки кода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Frontend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Инициализация, компоненты по RTCF-промптам, тесты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Баг «бесконечный цикл» найден по скриншоту + консоли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Backend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Миграции, RPC, Storage-политики; разбор ошибок PostgreSQL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 багов, не видимых локально, пойманы на живой базе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DevOps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Генерация CI/CD и uptime-workflow, аудит OWASP независимым агентом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Пайплайн дважды остановил деплой по делу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Оптимизация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Рекомендации линтера/агента: чанки, хуки, отмена устаревших ответов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Меньше лишних перерисовок; supabase-js кэшируется отдельно от кода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48640" y="5486400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Правила проекта (CLAUDE.md) влияли на архитектуру, а не на форматирование: из «подписание только через диалог» вырос RPC с проверкой роли на уровне БД.</a:t>
            </a:r>
            <a:endParaRPr lang="en-US" sz="125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6400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ДокПоток · защита проекта · 8/12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Качество: CI/CD, тесты, мониторинг</a:t>
            </a:r>
            <a:endParaRPr lang="en-US" sz="3200" dirty="0"/>
          </a:p>
        </p:txBody>
      </p:sp>
      <p:pic>
        <p:nvPicPr>
          <p:cNvPr id="3" name="Image 0" descr="docs/screenshots/ci-ru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25880"/>
            <a:ext cx="5852160" cy="365760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6766560" y="1325880"/>
            <a:ext cx="2331720" cy="160020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6949440" y="1463040"/>
            <a:ext cx="2011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E7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43</a:t>
            </a:r>
            <a:endParaRPr lang="en-US" sz="3400" dirty="0"/>
          </a:p>
        </p:txBody>
      </p:sp>
      <p:sp>
        <p:nvSpPr>
          <p:cNvPr id="6" name="Text 3"/>
          <p:cNvSpPr txBox="1"/>
          <p:nvPr/>
        </p:nvSpPr>
        <p:spPr>
          <a:xfrm>
            <a:off x="6949440" y="2194560"/>
            <a:ext cx="2011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тестов: юниты, компоненты, провайдер</a:t>
            </a:r>
            <a:endParaRPr lang="en-US" sz="1100" dirty="0"/>
          </a:p>
        </p:txBody>
      </p:sp>
      <p:sp>
        <p:nvSpPr>
          <p:cNvPr id="7" name="Shape 4"/>
          <p:cNvSpPr/>
          <p:nvPr/>
        </p:nvSpPr>
        <p:spPr>
          <a:xfrm>
            <a:off x="9281160" y="1325880"/>
            <a:ext cx="2331720" cy="160020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9464040" y="1463040"/>
            <a:ext cx="2011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E7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3400" dirty="0"/>
          </a:p>
        </p:txBody>
      </p:sp>
      <p:sp>
        <p:nvSpPr>
          <p:cNvPr id="9" name="Text 6"/>
          <p:cNvSpPr txBox="1"/>
          <p:nvPr/>
        </p:nvSpPr>
        <p:spPr>
          <a:xfrm>
            <a:off x="9464040" y="2194560"/>
            <a:ext cx="2011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API-запросов к живой базе, 5 негативных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6766560" y="3108960"/>
            <a:ext cx="2331720" cy="160020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6949440" y="3246120"/>
            <a:ext cx="2011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E7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3400" dirty="0"/>
          </a:p>
        </p:txBody>
      </p:sp>
      <p:sp>
        <p:nvSpPr>
          <p:cNvPr id="12" name="Text 9"/>
          <p:cNvSpPr txBox="1"/>
          <p:nvPr/>
        </p:nvSpPr>
        <p:spPr>
          <a:xfrm>
            <a:off x="6949440" y="3977640"/>
            <a:ext cx="2011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e2e-сценариев puppeteer на production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9281160" y="3108960"/>
            <a:ext cx="2331720" cy="160020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9464040" y="3246120"/>
            <a:ext cx="2011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E7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 мин</a:t>
            </a:r>
            <a:endParaRPr lang="en-US" sz="3400" dirty="0"/>
          </a:p>
        </p:txBody>
      </p:sp>
      <p:sp>
        <p:nvSpPr>
          <p:cNvPr id="15" name="Text 12"/>
          <p:cNvSpPr txBox="1"/>
          <p:nvPr/>
        </p:nvSpPr>
        <p:spPr>
          <a:xfrm>
            <a:off x="9464040" y="3977640"/>
            <a:ext cx="2011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интервал uptime-проверки + алерт</a:t>
            </a:r>
            <a:endParaRPr lang="en-US" sz="1100" dirty="0"/>
          </a:p>
        </p:txBody>
      </p:sp>
      <p:sp>
        <p:nvSpPr>
          <p:cNvPr id="16" name="Text 13"/>
          <p:cNvSpPr txBox="1"/>
          <p:nvPr/>
        </p:nvSpPr>
        <p:spPr>
          <a:xfrm>
            <a:off x="548640" y="51206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Пайплайн: npm audit → oxlint (0 предупреждений) → prettier → tsc → vitest → build → GitHub Pages → smoke-check. Дважды остановил деплой по делу: не включённый Pages и правки файлов в обход форматтера.</a:t>
            </a:r>
            <a:endParaRPr lang="en-US" sz="1250" dirty="0"/>
          </a:p>
        </p:txBody>
      </p:sp>
      <p:sp>
        <p:nvSpPr>
          <p:cNvPr id="17" name="Text 14"/>
          <p:cNvSpPr txBox="1"/>
          <p:nvPr/>
        </p:nvSpPr>
        <p:spPr>
          <a:xfrm>
            <a:off x="548640" y="6400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ДокПоток · защита проекта · 9/12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Пять багов, которые не видели зелёные тесты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280160"/>
            <a:ext cx="5440680" cy="150876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777240" y="1508760"/>
            <a:ext cx="384048" cy="384048"/>
          </a:xfrm>
          <a:prstGeom prst="ellipse">
            <a:avLst/>
          </a:prstGeom>
          <a:solidFill>
            <a:srgbClr val="0E7A5F"/>
          </a:solidFill>
          <a:ln w="12700">
            <a:solidFill>
              <a:srgbClr val="0E7A5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280160" y="1463040"/>
            <a:ext cx="4526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Бесконечный цикл загрузки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2011680"/>
            <a:ext cx="4983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Дефолт пропа создавал новый провайдер на каждый рендер. Найдено по скриншоту + консоли браузера; 12 тестов молчали — они передавали стабильный проп.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6217920" y="1280160"/>
            <a:ext cx="5440680" cy="150876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6446520" y="1508760"/>
            <a:ext cx="384048" cy="384048"/>
          </a:xfrm>
          <a:prstGeom prst="ellipse">
            <a:avLst/>
          </a:prstGeom>
          <a:solidFill>
            <a:srgbClr val="0E7A5F"/>
          </a:solidFill>
          <a:ln w="12700">
            <a:solidFill>
              <a:srgbClr val="0E7A5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949440" y="1463040"/>
            <a:ext cx="4526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Кириллица испорчена, миграция «Success»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6446520" y="2011680"/>
            <a:ext cx="4983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pbcopy без UTF-8-локали. Найдено сравнением repr() строк из API. Урок: после миграции читать данные обратно.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548640" y="2926080"/>
            <a:ext cx="5440680" cy="150876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777240" y="3154680"/>
            <a:ext cx="384048" cy="384048"/>
          </a:xfrm>
          <a:prstGeom prst="ellipse">
            <a:avLst/>
          </a:prstGeom>
          <a:solidFill>
            <a:srgbClr val="0E7A5F"/>
          </a:solidFill>
          <a:ln w="12700">
            <a:solidFill>
              <a:srgbClr val="0E7A5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1280160" y="3108960"/>
            <a:ext cx="4526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Отказы не попадали в журнал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777240" y="3657600"/>
            <a:ext cx="4983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raise exception в plpgsql откатывал insert. RPC теперь возвращает {ok, error}. Урок: проверять побочные эффекты негативных сценариев.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6217920" y="2926080"/>
            <a:ext cx="5440680" cy="150876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6446520" y="3154680"/>
            <a:ext cx="384048" cy="384048"/>
          </a:xfrm>
          <a:prstGeom prst="ellipse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949440" y="3108960"/>
            <a:ext cx="4526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RLS отклоняла создание организации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6446520" y="3657600"/>
            <a:ext cx="4983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INSERT … RETURNING проверяется до AFTER-триггера членства. Нашёл только e2e на живой базе — мок и 43 теста не имеют RLS.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548640" y="4572000"/>
            <a:ext cx="5440680" cy="150876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777240" y="4800600"/>
            <a:ext cx="384048" cy="384048"/>
          </a:xfrm>
          <a:prstGeom prst="ellipse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1280160" y="4754880"/>
            <a:ext cx="4526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Новый пользователь — пустое приложение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777240" y="5303520"/>
            <a:ext cx="4983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Триггер владельца (миграция 4) × «не ронять регистрацию» (аудит): ошибка сидинга проглатывалась. Поймал скрипт скриншотов под свежим пользователем.</a:t>
            </a:r>
            <a:endParaRPr lang="en-US" sz="1250" dirty="0"/>
          </a:p>
        </p:txBody>
      </p:sp>
      <p:sp>
        <p:nvSpPr>
          <p:cNvPr id="23" name="Shape 21"/>
          <p:cNvSpPr/>
          <p:nvPr/>
        </p:nvSpPr>
        <p:spPr>
          <a:xfrm>
            <a:off x="6217920" y="4572000"/>
            <a:ext cx="5440680" cy="150876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6446520" y="4800600"/>
            <a:ext cx="384048" cy="384048"/>
          </a:xfrm>
          <a:prstGeom prst="ellipse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6949440" y="4754880"/>
            <a:ext cx="4526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Общий вывод</a:t>
            </a:r>
            <a:endParaRPr lang="en-US" sz="1500" dirty="0"/>
          </a:p>
        </p:txBody>
      </p:sp>
      <p:sp>
        <p:nvSpPr>
          <p:cNvPr id="26" name="Text 24"/>
          <p:cNvSpPr txBox="1"/>
          <p:nvPr/>
        </p:nvSpPr>
        <p:spPr>
          <a:xfrm>
            <a:off x="6446520" y="5303520"/>
            <a:ext cx="4983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«Зелёный прогон» ≠ «работает». Проверять данные и побочные эффекты другим инструментом — и сценарий «с нуля» после каждой миграции.</a:t>
            </a:r>
            <a:endParaRPr lang="en-US" sz="1250" dirty="0"/>
          </a:p>
        </p:txBody>
      </p:sp>
      <p:sp>
        <p:nvSpPr>
          <p:cNvPr id="27" name="Text 25"/>
          <p:cNvSpPr txBox="1"/>
          <p:nvPr/>
        </p:nvSpPr>
        <p:spPr>
          <a:xfrm>
            <a:off x="548640" y="6400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ДокПоток · защита проекта · 10/12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Что я поняла о разработке с AI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502920" cy="502920"/>
          </a:xfrm>
          <a:prstGeom prst="ellipse">
            <a:avLst/>
          </a:prstGeom>
          <a:solidFill>
            <a:srgbClr val="0E7A5F"/>
          </a:solidFill>
          <a:ln w="12700">
            <a:solidFill>
              <a:srgbClr val="0E7A5F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14630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1280160" y="1371600"/>
            <a:ext cx="10332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Агент сильнее всего, когда его проверяет другой агент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1280160" y="1783080"/>
            <a:ext cx="10332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Лучшие находки — независимое ревью ТЗ, независимый аудит безопасности, API-тесты против живой базы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548640" y="2651760"/>
            <a:ext cx="502920" cy="502920"/>
          </a:xfrm>
          <a:prstGeom prst="ellipse">
            <a:avLst/>
          </a:prstGeom>
          <a:solidFill>
            <a:srgbClr val="0E7A5F"/>
          </a:solidFill>
          <a:ln w="12700">
            <a:solidFill>
              <a:srgbClr val="0E7A5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26517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1280160" y="2560320"/>
            <a:ext cx="10332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Правила влияют на архитектуру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1280160" y="2971800"/>
            <a:ext cx="10332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CLAUDE.md «чистая логика без сети» → тестируемые модули; «подписание через диалог» → RPC на уровне БД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548640" y="3840480"/>
            <a:ext cx="502920" cy="502920"/>
          </a:xfrm>
          <a:prstGeom prst="ellipse">
            <a:avLst/>
          </a:prstGeom>
          <a:solidFill>
            <a:srgbClr val="0E7A5F"/>
          </a:solidFill>
          <a:ln w="12700">
            <a:solidFill>
              <a:srgbClr val="0E7A5F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48640" y="38404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1280160" y="3749040"/>
            <a:ext cx="10332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Жёсткие ограничения — лучший фильтр</a:t>
            </a:r>
            <a:endParaRPr lang="en-US" sz="1700" dirty="0"/>
          </a:p>
        </p:txBody>
      </p:sp>
      <p:sp>
        <p:nvSpPr>
          <p:cNvPr id="14" name="Text 12"/>
          <p:cNvSpPr txBox="1"/>
          <p:nvPr/>
        </p:nvSpPr>
        <p:spPr>
          <a:xfrm>
            <a:off x="1280160" y="4160520"/>
            <a:ext cx="10332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Нет sudo → Supabase, GitHub Pages, системный Chrome для e2e — каждое решение оказалось проще альтернатив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548640" y="5029200"/>
            <a:ext cx="502920" cy="502920"/>
          </a:xfrm>
          <a:prstGeom prst="ellipse">
            <a:avLst/>
          </a:prstGeom>
          <a:solidFill>
            <a:srgbClr val="0E7A5F"/>
          </a:solidFill>
          <a:ln w="12700">
            <a:solidFill>
              <a:srgbClr val="0E7A5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48640" y="50292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1280160" y="4937760"/>
            <a:ext cx="10332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Абстракция над провайдером окупилась дважды</a:t>
            </a:r>
            <a:endParaRPr lang="en-US" sz="1700" dirty="0"/>
          </a:p>
        </p:txBody>
      </p:sp>
      <p:sp>
        <p:nvSpPr>
          <p:cNvPr id="18" name="Text 16"/>
          <p:cNvSpPr txBox="1"/>
          <p:nvPr/>
        </p:nvSpPr>
        <p:spPr>
          <a:xfrm>
            <a:off x="1280160" y="5349240"/>
            <a:ext cx="10332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Мок для тестов и CI без секретов + ответ на главный рыночный риск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548640" y="6400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ДокПоток · защита проекта · 11/12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548640"/>
            <a:ext cx="7315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Итоги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1554480"/>
            <a:ext cx="713232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экрана, адаптивная вёрстка, формы с валидацией, 4 состояния экрана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связанных таблиц, полный CRUD, RLS, RPC, Storage, OAuth2, аналитика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CI/CD → GitHub Pages, мониторинг, JSON-логи, аудит безопасности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на всех этапах — задокументировано с промптами и результатами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43 теста, 10 API-тестов, 6 e2e-сценариев; 5 багов найдены только на живой базе и исправлены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5029200"/>
            <a:ext cx="7315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4D3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Приложение: topchiiaa-eng.github.io/docflow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34D3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Код и документация: github.com/topchiiaa-eng/docflow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8503920" y="5120640"/>
            <a:ext cx="3200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Спасибо! Вопросы?</a:t>
            </a:r>
            <a:endParaRPr lang="en-US" sz="2400" dirty="0"/>
          </a:p>
        </p:txBody>
      </p:sp>
      <p:pic>
        <p:nvPicPr>
          <p:cNvPr id="6" name="Image 0" descr="docs/screenshots/live-sign-dialo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0" y="822960"/>
            <a:ext cx="3474720" cy="1956816"/>
          </a:xfrm>
          <a:prstGeom prst="rect">
            <a:avLst/>
          </a:prstGeom>
        </p:spPr>
      </p:pic>
      <p:pic>
        <p:nvPicPr>
          <p:cNvPr id="7" name="Image 1" descr="docs/screenshots/live-sign-deni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0" y="3017520"/>
            <a:ext cx="3474720" cy="1956816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ДокПоток — защита проекта</dc:title>
  <dc:subject>PptxGenJS Presentation</dc:subject>
  <dc:creator>PptxGenJS</dc:creator>
  <cp:lastModifiedBy>PptxGenJS</cp:lastModifiedBy>
  <cp:revision>1</cp:revision>
  <dcterms:created xsi:type="dcterms:W3CDTF">2026-10-01T16:58:45Z</dcterms:created>
  <dcterms:modified xsi:type="dcterms:W3CDTF">2026-10-01T16:58:45Z</dcterms:modified>
</cp:coreProperties>
</file>